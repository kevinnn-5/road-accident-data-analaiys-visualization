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cc6fa20-8cf9-ab26-6b3f-7e4e13c770aa}">
          <p14:sldIdLst>
            <p14:sldId id="256"/>
          </p14:sldIdLst>
        </p14:section>
        <p14:section name="Data" id="{f5cb4396-d9a6-b407-dcdd-745079517f8d}">
          <p14:sldIdLst>
            <p14:sldId id="257"/>
          </p14:sldIdLst>
        </p14:section>
        <p14:section name="EDA" id="{0829a028-ecd6-0e24-ac32-0318ef3bd950}">
          <p14:sldIdLst>
            <p14:sldId id="258"/>
            <p14:sldId id="259"/>
          </p14:sldIdLst>
        </p14:section>
        <p14:section name="Modelling" id="{fd35382d-5a2c-384f-a13b-4fd330d97630}">
          <p14:sldIdLst>
            <p14:sldId id="260"/>
            <p14:sldId id="261"/>
          </p14:sldIdLst>
        </p14:section>
        <p14:section name="Wrap-up" id="{cf28b4ea-e7a8-52bc-50df-eaa57a4142b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Accidents by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22</c:v>
                </c:pt>
                <c:pt idx="1">
                  <c:v>22</c:v>
                </c:pt>
                <c:pt idx="2">
                  <c:v>19</c:v>
                </c:pt>
                <c:pt idx="3">
                  <c:v>22</c:v>
                </c:pt>
                <c:pt idx="4">
                  <c:v>22</c:v>
                </c:pt>
                <c:pt idx="5">
                  <c:v>42</c:v>
                </c:pt>
                <c:pt idx="6">
                  <c:v>55</c:v>
                </c:pt>
                <c:pt idx="7">
                  <c:v>100</c:v>
                </c:pt>
                <c:pt idx="8">
                  <c:v>103</c:v>
                </c:pt>
                <c:pt idx="9">
                  <c:v>58</c:v>
                </c:pt>
                <c:pt idx="10">
                  <c:v>59</c:v>
                </c:pt>
                <c:pt idx="11">
                  <c:v>46</c:v>
                </c:pt>
                <c:pt idx="12">
                  <c:v>98</c:v>
                </c:pt>
                <c:pt idx="13">
                  <c:v>67</c:v>
                </c:pt>
                <c:pt idx="14">
                  <c:v>60</c:v>
                </c:pt>
                <c:pt idx="15">
                  <c:v>59</c:v>
                </c:pt>
                <c:pt idx="16">
                  <c:v>66</c:v>
                </c:pt>
                <c:pt idx="17">
                  <c:v>89</c:v>
                </c:pt>
                <c:pt idx="18">
                  <c:v>111</c:v>
                </c:pt>
                <c:pt idx="19">
                  <c:v>124</c:v>
                </c:pt>
                <c:pt idx="20">
                  <c:v>100</c:v>
                </c:pt>
                <c:pt idx="21">
                  <c:v>68</c:v>
                </c:pt>
                <c:pt idx="22">
                  <c:v>42</c:v>
                </c:pt>
                <c:pt idx="23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Fatal share by city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Tiruchirappalli</c:v>
                  </c:pt>
                  <c:pt idx="1">
                    <c:v>Coimbatore</c:v>
                  </c:pt>
                  <c:pt idx="2">
                    <c:v>Madurai</c:v>
                  </c:pt>
                  <c:pt idx="3">
                    <c:v>Chennai</c:v>
                  </c:pt>
                  <c:pt idx="4">
                    <c:v>Salem</c:v>
                  </c:pt>
                  <c:pt idx="5">
                    <c:v>Erode</c:v>
                  </c:pt>
                  <c:pt idx="6">
                    <c:v>Vellore</c:v>
                  </c:pt>
                  <c:pt idx="7">
                    <c:v>Tirunelveli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16.2</c:v>
                </c:pt>
                <c:pt idx="1">
                  <c:v>15.9</c:v>
                </c:pt>
                <c:pt idx="2">
                  <c:v>14.2</c:v>
                </c:pt>
                <c:pt idx="3">
                  <c:v>13.6</c:v>
                </c:pt>
                <c:pt idx="4">
                  <c:v>11.4</c:v>
                </c:pt>
                <c:pt idx="5">
                  <c:v>11</c:v>
                </c:pt>
                <c:pt idx="6">
                  <c:v>10.3</c:v>
                </c:pt>
                <c:pt idx="7">
                  <c:v>9.5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44"/>
                </a:solidFill>
                <a:latin typeface="+mn-lt"/>
              </a:rPr>
              <a:t>Fatal share by light condition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Dark</c:v>
                  </c:pt>
                  <c:pt idx="1">
                    <c:v>Daylight</c:v>
                  </c:pt>
                  <c:pt idx="2">
                    <c:v>Dusk/Dawn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23.3</c:v>
                </c:pt>
                <c:pt idx="1">
                  <c:v>7.8</c:v>
                </c:pt>
                <c:pt idx="2">
                  <c:v>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44"/>
                </a:solidFill>
                <a:latin typeface="+mn-lt"/>
              </a:rPr>
              <a:t>Fatal share by weather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Fog</c:v>
                  </c:pt>
                  <c:pt idx="1">
                    <c:v>Rain</c:v>
                  </c:pt>
                  <c:pt idx="2">
                    <c:v>Clear</c:v>
                  </c:pt>
                  <c:pt idx="3">
                    <c:v>Cloudy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26.3</c:v>
                </c:pt>
                <c:pt idx="1">
                  <c:v>20.3</c:v>
                </c:pt>
                <c:pt idx="2">
                  <c:v>9.9</c:v>
                </c:pt>
                <c:pt idx="3">
                  <c:v>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44"/>
                </a:solidFill>
                <a:latin typeface="+mn-lt"/>
              </a:rPr>
              <a:t>Fatal share by road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National Highway</c:v>
                  </c:pt>
                  <c:pt idx="1">
                    <c:v>State Highway</c:v>
                  </c:pt>
                  <c:pt idx="2">
                    <c:v>City Road</c:v>
                  </c:pt>
                  <c:pt idx="3">
                    <c:v>Rural Road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24.4</c:v>
                </c:pt>
                <c:pt idx="1">
                  <c:v>12.9</c:v>
                </c:pt>
                <c:pt idx="2">
                  <c:v>6</c:v>
                </c:pt>
                <c:pt idx="3">
                  <c:v>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44"/>
                </a:solidFill>
                <a:latin typeface="+mn-lt"/>
              </a:rPr>
              <a:t>Fatal share by cause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Drunk Driving</c:v>
                  </c:pt>
                  <c:pt idx="1">
                    <c:v>Over-speeding</c:v>
                  </c:pt>
                  <c:pt idx="2">
                    <c:v>Distracted Driving</c:v>
                  </c:pt>
                  <c:pt idx="3">
                    <c:v>Signal Violation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25.9</c:v>
                </c:pt>
                <c:pt idx="1">
                  <c:v>22.4</c:v>
                </c:pt>
                <c:pt idx="2">
                  <c:v>6.5</c:v>
                </c:pt>
                <c:pt idx="3">
                  <c:v>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Test-set scores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Gradient Boosting</c:v>
                  </c:pt>
                  <c:pt idx="1">
                    <c:v>Logistic Regression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KNN (k=15)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0.637</c:v>
                </c:pt>
                <c:pt idx="1">
                  <c:v>0.605</c:v>
                </c:pt>
                <c:pt idx="2">
                  <c:v>0.592</c:v>
                </c:pt>
                <c:pt idx="3">
                  <c:v>0.531</c:v>
                </c:pt>
                <c:pt idx="4">
                  <c:v>0.571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Gradient Boosting</c:v>
                  </c:pt>
                  <c:pt idx="1">
                    <c:v>Logistic Regression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KNN (k=15)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0.566</c:v>
                </c:pt>
                <c:pt idx="1">
                  <c:v>0.56</c:v>
                </c:pt>
                <c:pt idx="2">
                  <c:v>0.531</c:v>
                </c:pt>
                <c:pt idx="3">
                  <c:v>0.458</c:v>
                </c:pt>
                <c:pt idx="4">
                  <c:v>0.426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Permutation importance (drop in macro-F1)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cause</c:v>
                  </c:pt>
                  <c:pt idx="1">
                    <c:v>vehicle_type</c:v>
                  </c:pt>
                  <c:pt idx="2">
                    <c:v>light_condition</c:v>
                  </c:pt>
                  <c:pt idx="3">
                    <c:v>road_type</c:v>
                  </c:pt>
                  <c:pt idx="4">
                    <c:v>driver_age</c:v>
                  </c:pt>
                  <c:pt idx="5">
                    <c:v>weather</c:v>
                  </c:pt>
                  <c:pt idx="6">
                    <c:v>hour</c:v>
                  </c:pt>
                  <c:pt idx="7">
                    <c:v>city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0.1008</c:v>
                </c:pt>
                <c:pt idx="1">
                  <c:v>0.0552</c:v>
                </c:pt>
                <c:pt idx="2">
                  <c:v>0.0515</c:v>
                </c:pt>
                <c:pt idx="3">
                  <c:v>0.0503</c:v>
                </c:pt>
                <c:pt idx="4">
                  <c:v>0.0452</c:v>
                </c:pt>
                <c:pt idx="5">
                  <c:v>0.0411</c:v>
                </c:pt>
                <c:pt idx="6">
                  <c:v>0.03</c:v>
                </c:pt>
                <c:pt idx="7">
                  <c:v>0.0267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clean a messy accident dataset, explore patterns, predict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steps are detailed in the Cleaning Summary sheet of the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13.3% of accidents were fatal. Darkness: 23.3% vs 7.8% in daylight.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Accident Analysis &amp; Severity Prediction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EDA Assignment 2  |  Team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1,500 accidents, 8 Tamil Nadu cities, 2023-2024 (synthetic data)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Messy data in, analysis-ready data out</a:t>
            </a:r>
            <a:endParaRPr lang="en-US" sz="2400" dirty="0"/>
          </a:p>
        </p:txBody>
      </p:sp>
      <p:sp>
        <p:nvSpPr>
          <p:cNvPr id="3" name="StatCard0"/>
          <p:cNvSpPr/>
          <p:nvPr/>
        </p:nvSpPr>
        <p:spPr>
          <a:xfrm>
            <a:off x="457200" y="1188720"/>
            <a:ext cx="192024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1,560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</a:rPr>
              <a:t>original rows</a:t>
            </a:r>
            <a:endParaRPr lang="en-US" sz="1200" dirty="0"/>
          </a:p>
        </p:txBody>
      </p:sp>
      <p:sp>
        <p:nvSpPr>
          <p:cNvPr id="6" name="StatCard1"/>
          <p:cNvSpPr/>
          <p:nvPr/>
        </p:nvSpPr>
        <p:spPr>
          <a:xfrm>
            <a:off x="2542032" y="1188720"/>
            <a:ext cx="192024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</a:rPr>
              <a:t>duplicates removed</a:t>
            </a:r>
            <a:endParaRPr lang="en-US" sz="1200" dirty="0"/>
          </a:p>
        </p:txBody>
      </p:sp>
      <p:sp>
        <p:nvSpPr>
          <p:cNvPr id="9" name="StatCard2"/>
          <p:cNvSpPr/>
          <p:nvPr/>
        </p:nvSpPr>
        <p:spPr>
          <a:xfrm>
            <a:off x="4626864" y="1188720"/>
            <a:ext cx="192024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</a:rPr>
              <a:t>clean rows</a:t>
            </a:r>
            <a:endParaRPr lang="en-US" sz="1200" dirty="0"/>
          </a:p>
        </p:txBody>
      </p:sp>
      <p:sp>
        <p:nvSpPr>
          <p:cNvPr id="12" name="StatCard3"/>
          <p:cNvSpPr/>
          <p:nvPr/>
        </p:nvSpPr>
        <p:spPr>
          <a:xfrm>
            <a:off x="6711696" y="1188720"/>
            <a:ext cx="192024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</a:rPr>
              <a:t>missing values left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Text labels: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trimmed spaces, fixed case, merged 'Trichy' / 'Tiruchirappalli', M/F to Male/Female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different formats parsed into one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Invalid values: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ages of -5 / 150 and casualties of 99 set to missing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Imputation: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median by group for numbers, 'Unknown' for categories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New features: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hour, weekday, month, weekend flag, age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and where: evenings peak, but severity differs by city</a:t>
            </a:r>
            <a:endParaRPr lang="en-US" sz="2400" dirty="0"/>
          </a:p>
        </p:txBody>
      </p:sp>
      <p:sp>
        <p:nvSpPr>
          <p:cNvPr id="3" name="HourCard"/>
          <p:cNvSpPr/>
          <p:nvPr/>
        </p:nvSpPr>
        <p:spPr>
          <a:xfrm>
            <a:off x="457200" y="1097280"/>
            <a:ext cx="484632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CityCard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48640" y="11430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32120" y="1143000"/>
          <a:ext cx="3108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17:00-20:59 holds 28% of accidents (peak 19:00). Chennai has the most accidents (29%), yet Tiruchirappalli and Coimbatore have the highest fatal share.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Dark, foggy, wet highways with drunk or speeding drivers are the deadliest</a:t>
            </a:r>
            <a:endParaRPr lang="en-US" sz="2400" dirty="0"/>
          </a:p>
        </p:txBody>
      </p:sp>
      <p:sp>
        <p:nvSpPr>
          <p:cNvPr id="3" name="FatalCard0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24712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atalCard1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6" name="Chart 1" descr=""/>
          <p:cNvGraphicFramePr/>
          <p:nvPr/>
        </p:nvGraphicFramePr>
        <p:xfrm>
          <a:off x="4709160" y="1124712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atalCard2"/>
          <p:cNvSpPr/>
          <p:nvPr/>
        </p:nvSpPr>
        <p:spPr>
          <a:xfrm>
            <a:off x="457200" y="2880360"/>
            <a:ext cx="4023360" cy="1691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8" name="Chart 2" descr=""/>
          <p:cNvGraphicFramePr/>
          <p:nvPr/>
        </p:nvGraphicFramePr>
        <p:xfrm>
          <a:off x="502920" y="2907792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FatalCard3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10" name="Chart 3" descr=""/>
          <p:cNvGraphicFramePr/>
          <p:nvPr/>
        </p:nvGraphicFramePr>
        <p:xfrm>
          <a:off x="4709160" y="2907792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predicts severity best, but only moderately</a:t>
            </a:r>
            <a:endParaRPr lang="en-US" sz="2400" dirty="0"/>
          </a:p>
        </p:txBody>
      </p:sp>
      <p:sp>
        <p:nvSpPr>
          <p:cNvPr id="3" name="ModelChartCard"/>
          <p:cNvSpPr/>
          <p:nvPr/>
        </p:nvSpPr>
        <p:spPr>
          <a:xfrm>
            <a:off x="457200" y="1097280"/>
            <a:ext cx="512064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430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delNotes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18872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Setup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75/25 stratified split, 5-fold CV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num_casualties excluded (leakage)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Macro-F1 because classes are imbalanced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Best: Gradient Boosting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64% accuracy, macro-F1 0.57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Baseline (always 'Minor'): 53%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Fatal class hardest (F1 0.44)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Cause, vehicle, light and road type matter most</a:t>
            </a:r>
            <a:endParaRPr lang="en-US" sz="2400" dirty="0"/>
          </a:p>
        </p:txBody>
      </p:sp>
      <p:sp>
        <p:nvSpPr>
          <p:cNvPr id="3" name="FeatureChartCard"/>
          <p:cNvSpPr/>
          <p:nvPr/>
        </p:nvSpPr>
        <p:spPr>
          <a:xfrm>
            <a:off x="457200" y="1097280"/>
            <a:ext cx="5120640" cy="338328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430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eatureNotes"/>
          <p:cNvSpPr/>
          <p:nvPr/>
        </p:nvSpPr>
        <p:spPr>
          <a:xfrm>
            <a:off x="5760720" y="1097280"/>
            <a:ext cx="2926080" cy="3383280"/>
          </a:xfrm>
          <a:prstGeom prst="rect">
            <a:avLst/>
          </a:prstGeom>
          <a:solidFill>
            <a:schemeClr val="bg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18872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What this tells 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Cause is the strongest signal, matching the EDA (drunk driving and over-speeding)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Vehicle type, light and road type follow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Driver age ranks 5th but has a wide error bar: do not over-read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Target 17:00-21:00 traffic management and night-time lighting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Speed control and fog/rain advisories on National Highways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Breath-test drives (26% of drunk-driving crashes were fatal)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Helmet campaigns: two-wheelers are 42% of accidents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Caveat: synthetic data, so findings are illustrative only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Safety">
  <a:themeElements>
    <a:clrScheme name="RoadSafety">
      <a:dk1>
        <a:srgbClr val="1B2236"/>
      </a:dk1>
      <a:lt1>
        <a:srgbClr val="FFFFFF"/>
      </a:lt1>
      <a:dk2>
        <a:srgbClr val="1F2A44"/>
      </a:dk2>
      <a:lt2>
        <a:srgbClr val="F3F4F7"/>
      </a:lt2>
      <a:accent1>
        <a:srgbClr val="2F6DB5"/>
      </a:accent1>
      <a:accent2>
        <a:srgbClr val="F2A541"/>
      </a:accent2>
      <a:accent3>
        <a:srgbClr val="D64545"/>
      </a:accent3>
      <a:accent4>
        <a:srgbClr val="4C9F70"/>
      </a:accent4>
      <a:accent5>
        <a:srgbClr val="7A5CB5"/>
      </a:accent5>
      <a:accent6>
        <a:srgbClr val="8A93A6"/>
      </a:accent6>
      <a:hlink>
        <a:srgbClr val="2F6DB5"/>
      </a:hlink>
      <a:folHlink>
        <a:srgbClr val="7A5CB5"/>
      </a:folHlink>
    </a:clrScheme>
    <a:fontScheme name="RoadSafet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Assignment 2 - Road Accident Analysis (Team 6)</dc:title>
  <dc:subject>PptxGenJS Presentation</dc:subject>
  <dc:creator>Team 6</dc:creator>
  <cp:lastModifiedBy>Team 6</cp:lastModifiedBy>
  <cp:revision>1</cp:revision>
  <dcterms:created xsi:type="dcterms:W3CDTF">2026-10-30T15:30:26Z</dcterms:created>
  <dcterms:modified xsi:type="dcterms:W3CDTF">2026-10-30T15:30:26Z</dcterms:modified>
</cp:coreProperties>
</file>